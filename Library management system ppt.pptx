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59" r:id="rId18"/>
  </p:sldIdLst>
  <p:sldSz cx="12192000" cy="6858000"/>
  <p:notesSz cx="6858000" cy="9144000"/>
  <p:embeddedFontLst>
    <p:embeddedFont>
      <p:font typeface="Algerian" panose="04020705040A02060702" pitchFamily="82" charset="0"/>
      <p:regular r:id="rId20"/>
    </p:embeddedFont>
    <p:embeddedFont>
      <p:font typeface="Lato Black" panose="020F0502020204030203" pitchFamily="34" charset="0"/>
      <p:bold r:id="rId21"/>
      <p:boldItalic r:id="rId22"/>
    </p:embeddedFont>
    <p:embeddedFont>
      <p:font typeface="Libre Baskerville" panose="02000000000000000000" pitchFamily="2" charset="0"/>
      <p:regular r:id="rId23"/>
      <p:bold r:id="rId24"/>
      <p: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1580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472904" y="3717986"/>
            <a:ext cx="7246189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3200" dirty="0">
                <a:solidFill>
                  <a:schemeClr val="dk1"/>
                </a:solidFill>
                <a:latin typeface="Algerian" panose="04020705040A02060702" pitchFamily="82" charset="0"/>
                <a:ea typeface="Calibri"/>
                <a:cs typeface="Calibri"/>
                <a:sym typeface="Calibri"/>
              </a:rPr>
              <a:t>LIBRARY MANAGEMENT SYSTEM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3200" b="0" i="0" u="none" strike="noStrike" cap="none" dirty="0">
                <a:solidFill>
                  <a:schemeClr val="dk1"/>
                </a:solidFill>
                <a:latin typeface="Algerian" panose="04020705040A02060702" pitchFamily="82" charset="0"/>
                <a:ea typeface="Calibri"/>
                <a:cs typeface="Calibri"/>
                <a:sym typeface="Calibri"/>
              </a:rPr>
              <a:t>BY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3200" dirty="0">
                <a:solidFill>
                  <a:schemeClr val="dk1"/>
                </a:solidFill>
                <a:latin typeface="Algerian" panose="04020705040A02060702" pitchFamily="82" charset="0"/>
                <a:ea typeface="Calibri"/>
                <a:cs typeface="Calibri"/>
                <a:sym typeface="Calibri"/>
              </a:rPr>
              <a:t>HEAVEN STAY GROUP</a:t>
            </a:r>
            <a:endParaRPr lang="en-IN" sz="3200" b="0" i="0" u="none" strike="noStrike" cap="none" dirty="0">
              <a:solidFill>
                <a:schemeClr val="dk1"/>
              </a:solidFill>
              <a:latin typeface="Algerian" panose="04020705040A02060702" pitchFamily="82" charset="0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3200" dirty="0">
                <a:solidFill>
                  <a:schemeClr val="dk1"/>
                </a:solidFill>
                <a:latin typeface="Algerian" panose="04020705040A02060702" pitchFamily="82" charset="0"/>
                <a:ea typeface="Calibri"/>
                <a:cs typeface="Calibri"/>
                <a:sym typeface="Calibri"/>
              </a:rPr>
              <a:t>P.TEJASWINI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3200" b="0" i="0" u="none" strike="noStrike" cap="none" dirty="0">
                <a:solidFill>
                  <a:schemeClr val="dk1"/>
                </a:solidFill>
                <a:latin typeface="Algerian" panose="04020705040A02060702" pitchFamily="82" charset="0"/>
                <a:ea typeface="Calibri"/>
                <a:cs typeface="Calibri"/>
                <a:sym typeface="Calibri"/>
              </a:rPr>
              <a:t>M. POOJITHA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3200" dirty="0">
                <a:solidFill>
                  <a:schemeClr val="dk1"/>
                </a:solidFill>
                <a:latin typeface="Algerian" panose="04020705040A02060702" pitchFamily="82" charset="0"/>
                <a:ea typeface="Calibri"/>
                <a:cs typeface="Calibri"/>
                <a:sym typeface="Calibri"/>
              </a:rPr>
              <a:t>D. BINDHU</a:t>
            </a:r>
            <a:endParaRPr sz="2400" b="0" i="0" u="none" strike="noStrike" cap="none" dirty="0">
              <a:solidFill>
                <a:srgbClr val="000000"/>
              </a:solidFill>
              <a:latin typeface="Algerian" panose="04020705040A02060702" pitchFamily="82" charset="0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2" y="1299172"/>
            <a:ext cx="70074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Background? (B-tech or M-tech)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you want to learn Data Science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work experience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</a:pPr>
            <a:r>
              <a:rPr lang="en-I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 your </a:t>
            </a:r>
            <a:r>
              <a:rPr lang="en-I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LinkedIn</a:t>
            </a:r>
            <a:r>
              <a:rPr lang="en-I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I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IN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profile </a:t>
            </a:r>
            <a:r>
              <a:rPr lang="en-I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URLs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 dirty="0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F69B4-1D67-A2D3-5350-9A328E917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4559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1DA649-BFE2-AEE2-1241-5C83C66F1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535185"/>
            <a:ext cx="6216940" cy="4641778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 of this project is to understand how a library operates by creating and analyzing a complete SQL database. 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 organizing books, authors, publishers, borrowers, and branch information in a structured way, and then performing SQL queries to study how books are distributed across branches, how borrowers use the library, and how often books are issued.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turn raw data into meaningful insights that help improve library management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026" name="Picture 2" descr="Library quotes Vector Images &amp; Graphics for Commercial Use | VectorStock">
            <a:extLst>
              <a:ext uri="{FF2B5EF4-FFF2-40B4-BE49-F238E27FC236}">
                <a16:creationId xmlns:a16="http://schemas.microsoft.com/office/drawing/2014/main" id="{1EDF312B-C4D1-E464-A545-7F34C290E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0975" y="1951460"/>
            <a:ext cx="3242824" cy="360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640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4E95B-8CEE-814C-B957-FACFEC705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357CE8A-534B-0F28-87E3-592454A59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072" y="1434516"/>
            <a:ext cx="9152389" cy="447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204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Book border Images - Free Download on Freepik">
            <a:extLst>
              <a:ext uri="{FF2B5EF4-FFF2-40B4-BE49-F238E27FC236}">
                <a16:creationId xmlns:a16="http://schemas.microsoft.com/office/drawing/2014/main" id="{64184DB7-2D86-1279-D811-7F707A259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667000" y="-2667000"/>
            <a:ext cx="6858000" cy="121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4F7F85-B5A9-85BC-14D1-5E949CD60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3457" y="1690688"/>
            <a:ext cx="9949343" cy="4257106"/>
          </a:xfrm>
        </p:spPr>
        <p:txBody>
          <a:bodyPr>
            <a:normAutofit fontScale="92500" lnSpcReduction="10000"/>
          </a:bodyPr>
          <a:lstStyle/>
          <a:p>
            <a:pPr marL="11430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schema represents the complete relational structure of a Library Management System. It organizes data into 7 related tables, each serving a specific role in managing books, authors, publishers, borrowers, and loan operations.</a:t>
            </a:r>
          </a:p>
          <a:p>
            <a:pPr marL="11430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tbl_publisher (Publisher Details):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information about book publishers.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publisher_PublisherName is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publisher can publish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books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forming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one-to-many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relationship with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tbl_book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tbl_book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(Book Information)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details about each book in the library.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book_BookID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book_PublisherName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referencing tbl_publisher.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book can have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authors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copies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715F7-AA93-7F4B-123D-15FC22A5A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04675"/>
            <a:ext cx="10515600" cy="98601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 EXPLANATION</a:t>
            </a:r>
          </a:p>
        </p:txBody>
      </p:sp>
    </p:spTree>
    <p:extLst>
      <p:ext uri="{BB962C8B-B14F-4D97-AF65-F5344CB8AC3E}">
        <p14:creationId xmlns:p14="http://schemas.microsoft.com/office/powerpoint/2010/main" val="3100265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4" name="Picture 8" descr="Books Border Images – Browse 382,700 Stock Photos, Vectors, and Video |  Adobe Stock">
            <a:extLst>
              <a:ext uri="{FF2B5EF4-FFF2-40B4-BE49-F238E27FC236}">
                <a16:creationId xmlns:a16="http://schemas.microsoft.com/office/drawing/2014/main" id="{728A1869-4CA4-CD7E-394D-60DF1D8BBD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7583714" y="1568677"/>
            <a:ext cx="6176963" cy="3039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Books Border Images – Browse 382,700 Stock Photos, Vectors, and Video |  Adobe Stock">
            <a:extLst>
              <a:ext uri="{FF2B5EF4-FFF2-40B4-BE49-F238E27FC236}">
                <a16:creationId xmlns:a16="http://schemas.microsoft.com/office/drawing/2014/main" id="{975FA477-EBB2-A132-674D-3888C6362D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53217"/>
            <a:ext cx="9060110" cy="2604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69CDE-F9E5-EA4B-A3F0-BE9170C7B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511728"/>
            <a:ext cx="10515600" cy="5665235"/>
          </a:xfrm>
        </p:spPr>
        <p:txBody>
          <a:bodyPr>
            <a:normAutofit fontScale="62500" lnSpcReduction="20000"/>
          </a:bodyPr>
          <a:lstStyle/>
          <a:p>
            <a:pPr marL="114300" indent="0"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tbl_book_authors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(Authors of Books)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the list of authors for each book.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book_authors_AuthorID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book_authors_BookID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referencing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tbl_book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one-to-many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one book → many authors.</a:t>
            </a:r>
          </a:p>
          <a:p>
            <a:pPr marL="114300" indent="0">
              <a:buNone/>
            </a:pPr>
            <a:endParaRPr lang="en-US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4. </a:t>
            </a:r>
            <a:r>
              <a:rPr lang="en-US" sz="2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tbl_library_branch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(Library Branch Information)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each library branch’s name and address.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library_branch_BranchID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branch can have many copies of books and can issue many loans.</a:t>
            </a:r>
            <a:b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2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tbl_book_copies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(Book Inventory Across Branches)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how many copies of each book are available at each branch.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book_copies_CopiesID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two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Keys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book_copies_BookID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tbl_book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book_copies_BranchID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tbl_library_branch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a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many-to-many relationship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Books and Branches, resolved through this table.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320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Book border Images - Free Download on Freepik">
            <a:extLst>
              <a:ext uri="{FF2B5EF4-FFF2-40B4-BE49-F238E27FC236}">
                <a16:creationId xmlns:a16="http://schemas.microsoft.com/office/drawing/2014/main" id="{7BF267CF-3C48-1164-06EE-FC9940AAE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1999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D9DC29A-D451-1D17-4684-F0DB970D5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62356" y="1300293"/>
            <a:ext cx="8397380" cy="4345497"/>
          </a:xfrm>
        </p:spPr>
        <p:txBody>
          <a:bodyPr>
            <a:normAutofit fontScale="77500" lnSpcReduction="20000"/>
          </a:bodyPr>
          <a:lstStyle/>
          <a:p>
            <a:pPr marL="114300" indent="0" algn="just"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sz="2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tbl_borrower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(Borrower Information)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borrower details such as name, address, and phone.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borrower_CardNo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borrower can check out multiple books.</a:t>
            </a:r>
          </a:p>
          <a:p>
            <a:pPr marL="114300" indent="0" algn="just">
              <a:buNone/>
            </a:pP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just">
              <a:buNone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sz="2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tbl_book_loans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(Book Issue Details)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all issued books and their due dates.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book_loans_LoansID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three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Keys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book_loans_BookID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tbl_book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book_loans_BranchID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tbl_library_branch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book_loans_CardNo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tbl_borrower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7961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D183E-E654-F20E-9FB4-23DA38DBC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5503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analysis questions (use cases)</a:t>
            </a:r>
            <a:endParaRPr lang="en-US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B7B2D5-5E7B-0A6D-FBD8-668558CCB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10018"/>
            <a:ext cx="10515600" cy="4666945"/>
          </a:xfrm>
        </p:spPr>
        <p:txBody>
          <a:bodyPr>
            <a:normAutofit/>
          </a:bodyPr>
          <a:lstStyle/>
          <a:p>
            <a:pPr marL="571500" indent="-457200"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copies of the book titled "The Lost Tribe" are owned by the library branch whose name is "Sharpstown"?</a:t>
            </a:r>
          </a:p>
          <a:p>
            <a:pPr marL="11430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14B0B4-FDF9-96F4-3779-FDC20518E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370" y="2618774"/>
            <a:ext cx="5932107" cy="31192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3CBE8E-572A-58CA-8B11-3D0830D53B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321" y="3125602"/>
            <a:ext cx="2773634" cy="2117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043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B63A4-ACF9-C49E-7C46-06059375A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How many copies of the book titled "The Lost Tribe" are owned by each library branch?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64B0C-DD46-61B7-4F85-A44E51642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640" y="1903290"/>
            <a:ext cx="5383215" cy="31720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CF9FC4-A126-3706-54E8-99876152C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470" y="2550253"/>
            <a:ext cx="4258269" cy="2608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640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80512-BB23-940A-07B7-23221E446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1947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Retrieve the names of all borrowers who do not have any books checked out.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CB1EB5-0AC2-6410-685B-7609DD3C5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255" y="1933662"/>
            <a:ext cx="5040745" cy="31542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4AB228-0767-78BA-172C-1DD77EC9F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151" y="2739005"/>
            <a:ext cx="2575497" cy="154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949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69E90-E31F-6529-CED0-D03814028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For each book that is loaned out from the "Sharpstown" branch and whose Due Date is 2/3/18, retrieve the book title, the borrower's name, and the borrower's address.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83D26E-3D85-7DE7-63C5-3546109BD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895975"/>
            <a:ext cx="5090020" cy="42106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DAC6C3-6A75-5FC6-78AA-5506FB1BD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120259"/>
            <a:ext cx="4877499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679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16BE6-0C74-3DB8-B56C-091A090E3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For each library branch, retrieve the branch name and the total number of books loaned out from that branch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F67460-5DBD-91CE-9D40-30CE68BEF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40753"/>
            <a:ext cx="4757257" cy="32016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1B1B75-530E-1820-59F7-94FA474DD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545" y="2848895"/>
            <a:ext cx="3362794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952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073DF-DC64-788F-6803-9A6E806DE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Retrieve the names, addresses, and number of books checked out for all borrowers who have more than five books checked out.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E808F1-9E38-9B23-A7DB-CFBFFA167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825625"/>
            <a:ext cx="5436764" cy="3367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EF366C-5F5D-FCA0-4F81-DAA92BBF0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244" y="2718947"/>
            <a:ext cx="4772770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279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BA883-3E3C-0F0F-77C4-DC4DFF51E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For each book authored by "Stephen King", retrieve the title and the number of copies owned by the library branch whose name is "Central".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2A285F-01F0-64E5-43FD-53DD2B2656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328" y="1933657"/>
            <a:ext cx="6137370" cy="38295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32E4ED-EA15-6585-3651-C173C5B1E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698" y="3122242"/>
            <a:ext cx="3334215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678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EC1CC-CEB7-0681-7178-50466C1AE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business insights and recommendations</a:t>
            </a:r>
            <a:endParaRPr lang="en-US" sz="400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DB89D83-07BC-7AB6-F48F-09054A8D7B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690688"/>
            <a:ext cx="105156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library data shows clear differences in book demand across branches, with some branches issuing more books than others.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Certain authors and titles are consistently popular, highlighting the need for better inventory planning.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small group of borrowers accounts for most of the book loans, while others remain inactive.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Book copies are unevenly distributed, causing limited availability in some branches.</a:t>
            </a:r>
          </a:p>
        </p:txBody>
      </p:sp>
    </p:spTree>
    <p:extLst>
      <p:ext uri="{BB962C8B-B14F-4D97-AF65-F5344CB8AC3E}">
        <p14:creationId xmlns:p14="http://schemas.microsoft.com/office/powerpoint/2010/main" val="2605578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05669-280E-7504-67DA-D43B66B87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011C3-FD34-EDF6-3A15-A6C17B58A2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0688"/>
            <a:ext cx="10515600" cy="3468541"/>
          </a:xfrm>
        </p:spPr>
        <p:txBody>
          <a:bodyPr/>
          <a:lstStyle/>
          <a:p>
            <a:pPr marL="11430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helped in understanding how a library’s data can be effectively managed using SQL. By building the database and running queries on real datasets, we were able to observe trends in book usage, borrower activity, and branch-level performance. The analysis shows how organized data and structured queries can support better decision-making in daily library operations. Overall, the project demonstrates the value of SQL in managing, analyzing, and improving library services.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897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5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883</Words>
  <Application>Microsoft Office PowerPoint</Application>
  <PresentationFormat>Widescreen</PresentationFormat>
  <Paragraphs>76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Calibri</vt:lpstr>
      <vt:lpstr>Libre Baskerville</vt:lpstr>
      <vt:lpstr>Wingdings</vt:lpstr>
      <vt:lpstr>Lato Black</vt:lpstr>
      <vt:lpstr>Arial</vt:lpstr>
      <vt:lpstr>Algerian</vt:lpstr>
      <vt:lpstr>Times New Roman</vt:lpstr>
      <vt:lpstr>Office Theme</vt:lpstr>
      <vt:lpstr>PowerPoint Presentation</vt:lpstr>
      <vt:lpstr>PowerPoint Presentation</vt:lpstr>
      <vt:lpstr>OBJECTIVE OF THE PROJECT</vt:lpstr>
      <vt:lpstr>ER DIAGRAM </vt:lpstr>
      <vt:lpstr>SCHEMA EXPLANATION</vt:lpstr>
      <vt:lpstr>PowerPoint Presentation</vt:lpstr>
      <vt:lpstr>PowerPoint Presentation</vt:lpstr>
      <vt:lpstr>Key analysis questions (use cases)</vt:lpstr>
      <vt:lpstr>2. How many copies of the book titled "The Lost Tribe" are owned by each library branch?</vt:lpstr>
      <vt:lpstr>3. Retrieve the names of all borrowers who do not have any books checked out.</vt:lpstr>
      <vt:lpstr>4. For each book that is loaned out from the "Sharpstown" branch and whose Due Date is 2/3/18, retrieve the book title, the borrower's name, and the borrower's address. </vt:lpstr>
      <vt:lpstr>5. For each library branch, retrieve the branch name and the total number of books loaned out from that branch.</vt:lpstr>
      <vt:lpstr>6. Retrieve the names, addresses, and number of books checked out for all borrowers who have more than five books checked out.</vt:lpstr>
      <vt:lpstr>7. For each book authored by "Stephen King", retrieve the title and the number of copies owned by the library branch whose name is "Central".</vt:lpstr>
      <vt:lpstr>Final business insights and recommendations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M Poojitha</cp:lastModifiedBy>
  <cp:revision>1</cp:revision>
  <dcterms:created xsi:type="dcterms:W3CDTF">2021-02-16T05:19:01Z</dcterms:created>
  <dcterms:modified xsi:type="dcterms:W3CDTF">2025-11-25T18:12:41Z</dcterms:modified>
</cp:coreProperties>
</file>